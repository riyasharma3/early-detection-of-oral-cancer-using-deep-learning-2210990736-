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5151"/>
    <a:srgbClr val="3D6DC3"/>
    <a:srgbClr val="8FC36B"/>
    <a:srgbClr val="E0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1A2E"/>
                </a:solidFill>
                <a:latin typeface="Arial"/>
              </a:rPr>
              <a:t>Validation AUC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69-4419-890E-96A3DFE97B29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69-4419-890E-96A3DFE97B29}"/>
              </c:ext>
            </c:extLst>
          </c:dPt>
          <c:dPt>
            <c:idx val="2"/>
            <c:invertIfNegative val="0"/>
            <c:bubble3D val="0"/>
            <c:spPr>
              <a:solidFill>
                <a:srgbClr val="BF36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69-4419-890E-96A3DFE97B2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0.9957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69-4419-890E-96A3DFE97B2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0.9809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69-4419-890E-96A3DFE97B2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0.9792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A69-4419-890E-96A3DFE97B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EfficientNetB0</c:v>
                </c:pt>
                <c:pt idx="1">
                  <c:v>DenseNet121</c:v>
                </c:pt>
                <c:pt idx="2">
                  <c:v>ResNet50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0.99570000000000003</c:v>
                </c:pt>
                <c:pt idx="1">
                  <c:v>0.98089999999999999</c:v>
                </c:pt>
                <c:pt idx="2">
                  <c:v>0.97919999999999996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69-4419-890E-96A3DFE97B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DN121</c:v>
                </c:pt>
                <c:pt idx="1">
                  <c:v>EffB0</c:v>
                </c:pt>
                <c:pt idx="2">
                  <c:v>RN50</c:v>
                </c:pt>
                <c:pt idx="3">
                  <c:v>Meta-Head</c:v>
                </c:pt>
                <c:pt idx="4">
                  <c:v>Wtd Avg</c:v>
                </c:pt>
                <c:pt idx="5">
                  <c:v>LR Meta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0.86850000000000005</c:v>
                </c:pt>
                <c:pt idx="1">
                  <c:v>0.90500000000000003</c:v>
                </c:pt>
                <c:pt idx="2">
                  <c:v>0.90790000000000004</c:v>
                </c:pt>
                <c:pt idx="3">
                  <c:v>0.88229999999999997</c:v>
                </c:pt>
                <c:pt idx="4">
                  <c:v>0.9194</c:v>
                </c:pt>
                <c:pt idx="5">
                  <c:v>0.9194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D7-4406-BF44-975E0AE092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3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81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Presentation of CO-OP Project at Industry (Module-2) (22CS421)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Early Detection of Oral Cancer Using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Deep Learning on Intraoral Images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Riya Sharma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2210990736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40629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Supervised By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Mr. Lalit Sharma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5486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Computer Science and Engineering,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Chitkara University, Punjab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57276" y="228600"/>
            <a:ext cx="131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Outline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93548"/>
            <a:ext cx="7772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Introduction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Problem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Objectives &amp; Contributions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Literature Review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Proposed Methodology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Results &amp; Discussion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  GradCAM Interpretability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8.  Conclusion &amp; Future Scope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9.  References &amp; Acknowledgments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/home/claude/chitkara_logo.jpeg">
            <a:extLst>
              <a:ext uri="{FF2B5EF4-FFF2-40B4-BE49-F238E27FC236}">
                <a16:creationId xmlns:a16="http://schemas.microsoft.com/office/drawing/2014/main" id="{5C796EA7-E887-D128-B48B-DFDD34CB1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Introduction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2514" y="1150013"/>
            <a:ext cx="807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Oral Cancer: A Global Health Crisis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22514" y="1431756"/>
            <a:ext cx="807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 cancers of lip, tongue, floor of mouth, buccal mucosa, gingiva, oropharynx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reports 377,000+ new cases globally each year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Five-year survival rate remains &lt; 50% in many regions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56809"/>
              </p:ext>
            </p:extLst>
          </p:nvPr>
        </p:nvGraphicFramePr>
        <p:xfrm>
          <a:off x="893624" y="2573316"/>
          <a:ext cx="30175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Stage at Detection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5-Year Survival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Stage I / II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97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&gt; 80%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Advanced Stage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32F2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&lt; 30%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22514" y="390869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Gap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2514" y="4045859"/>
            <a:ext cx="807284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cases diagnosed at advanced stages due to: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Lack of population-level screening infrastructure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Restricted access to oral pathologists (especially in LMICs)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br>
              <a:rPr lang="en-US" sz="1400" b="1" dirty="0">
                <a:solidFill>
                  <a:srgbClr val="0089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offers a promising path — CNNs have demonstrated clinical-level performance in skin cancer, diabetic retinopathy, and histopathological classification.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862A75DF-5108-C52C-C597-D144F20193DB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hitkara_logo.jpeg">
            <a:extLst>
              <a:ext uri="{FF2B5EF4-FFF2-40B4-BE49-F238E27FC236}">
                <a16:creationId xmlns:a16="http://schemas.microsoft.com/office/drawing/2014/main" id="{8BBB63FE-5919-75A7-41C2-1453DD78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80411F17-FCD0-F89A-1A0E-D355FB827F30}"/>
              </a:ext>
            </a:extLst>
          </p:cNvPr>
          <p:cNvSpPr/>
          <p:nvPr/>
        </p:nvSpPr>
        <p:spPr>
          <a:xfrm>
            <a:off x="522514" y="208872"/>
            <a:ext cx="178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Introduction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Problem Statement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16424"/>
            <a:ext cx="8144256" cy="25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Current Diagnostic Workflow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399032"/>
            <a:ext cx="8144256" cy="365760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402336" y="1390355"/>
            <a:ext cx="814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Exam  →  Biopsy  →  Histopathological Analysis  →  Diagnosis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783626"/>
              </p:ext>
            </p:extLst>
          </p:nvPr>
        </p:nvGraphicFramePr>
        <p:xfrm>
          <a:off x="457200" y="2192694"/>
          <a:ext cx="8144256" cy="1524000"/>
        </p:xfrm>
        <a:graphic>
          <a:graphicData uri="http://schemas.openxmlformats.org/drawingml/2006/table">
            <a:tbl>
              <a:tblPr/>
              <a:tblGrid>
                <a:gridCol w="407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Labor-intensive manual examination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workload on clinicians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inter-examiner variability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diagnoses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specialized oral pathologists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Inaccessible in rural/low-income regions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Inherent delays in lab 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Late-stage diagnoses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51010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Research Question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4840775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deep convolutional neural networks classify oral lesion images into cancerous vs. non-cancerous with clinical-grade accuracy, supporting early-stage automated screening?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80B7F1B8-B5F6-BC8B-5D9B-B87EFC143EAB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/home/claude/chitkara_logo.jpeg">
            <a:extLst>
              <a:ext uri="{FF2B5EF4-FFF2-40B4-BE49-F238E27FC236}">
                <a16:creationId xmlns:a16="http://schemas.microsoft.com/office/drawing/2014/main" id="{F2CF8CEC-E7F6-145E-771C-790054D2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75A15A5F-D383-A108-2320-2B5FBDA9B0F3}"/>
              </a:ext>
            </a:extLst>
          </p:cNvPr>
          <p:cNvSpPr/>
          <p:nvPr/>
        </p:nvSpPr>
        <p:spPr>
          <a:xfrm>
            <a:off x="457200" y="228600"/>
            <a:ext cx="2681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Problem Statement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Objectives &amp; Contributions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7310" y="1106931"/>
            <a:ext cx="8154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Aim: To systematically evaluate deep CNN architectures for automated binary classification of oral lesion images and propose a clinically assistive screening framework.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776868"/>
            <a:ext cx="54864" cy="4572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17768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2004681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CLAHE + Gaussian sharpening + center-crop (224×224)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467522"/>
            <a:ext cx="54864" cy="4572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" y="24692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Systematic Model Evaluation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2670241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Two-phase transfer learning: EfficientNetB0, DenseNet121, ResNet50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7310" y="3158176"/>
            <a:ext cx="54864" cy="4572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" y="3154559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Balancing + Augmentation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3383533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Balanced sampling + offline augmentation (×4) for robustness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2700" y="3851117"/>
            <a:ext cx="54864" cy="4572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5800" y="385566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" y="4074185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Youden-index based optimal threshold for clinical screening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7310" y="4564487"/>
            <a:ext cx="54864" cy="45720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5800" y="457218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GradCAM Interpretability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5800" y="4775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explanations of DenseNet121 across full test 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57200" y="5263118"/>
            <a:ext cx="54864" cy="4572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5800" y="525842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Ensemble Strategies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" y="546428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Average, LR Meta-Learner, Keras Meta-Head fusion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672D19B7-BF2D-DD20-EF6F-DA436BA6112B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0" descr="/home/claude/chitkara_logo.jpeg">
            <a:extLst>
              <a:ext uri="{FF2B5EF4-FFF2-40B4-BE49-F238E27FC236}">
                <a16:creationId xmlns:a16="http://schemas.microsoft.com/office/drawing/2014/main" id="{0080D6DB-467C-45B3-1A3D-E5FA7094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28" name="Text 2">
            <a:extLst>
              <a:ext uri="{FF2B5EF4-FFF2-40B4-BE49-F238E27FC236}">
                <a16:creationId xmlns:a16="http://schemas.microsoft.com/office/drawing/2014/main" id="{CD0B1871-39C9-BA6D-F827-FBAF0BF78555}"/>
              </a:ext>
            </a:extLst>
          </p:cNvPr>
          <p:cNvSpPr/>
          <p:nvPr/>
        </p:nvSpPr>
        <p:spPr>
          <a:xfrm>
            <a:off x="512064" y="211312"/>
            <a:ext cx="37840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Contributions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Literature Review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72365"/>
              </p:ext>
            </p:extLst>
          </p:nvPr>
        </p:nvGraphicFramePr>
        <p:xfrm>
          <a:off x="457200" y="1180456"/>
          <a:ext cx="8144256" cy="1828800"/>
        </p:xfrm>
        <a:graphic>
          <a:graphicData uri="http://schemas.openxmlformats.org/drawingml/2006/table">
            <a:tbl>
              <a:tblPr/>
              <a:tblGrid>
                <a:gridCol w="2262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Result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Jubair et al. (2022)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Lightweight MobileNet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88.3% accuracy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Shamim et al. (2019)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VGG-16 + ResNet-50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AUC &gt; 0.90 for OSCC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Hussain et al. (2020)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 CNN architectures compared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 best (feature reuse)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Shetty et al. (2021)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CLAHE + CNN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+4.2% from CLAHE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Selvaraju et al. (2017)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GradCAM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Gradient-based localization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839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Gap Identified in Prior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" y="4214504"/>
            <a:ext cx="814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study combined all four: balanced sampling + offline augmentation + combined AUC-accuracy optimization + full-test-set GradCAM analysis.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B4D505D4-A162-60D5-327E-E0B20F3A6C7E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chitkara_logo.jpeg">
            <a:extLst>
              <a:ext uri="{FF2B5EF4-FFF2-40B4-BE49-F238E27FC236}">
                <a16:creationId xmlns:a16="http://schemas.microsoft.com/office/drawing/2014/main" id="{A47BF8AA-56CC-C17E-880F-52C0EBBBA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8EC86886-1299-396A-425D-2CA662FCBC29}"/>
              </a:ext>
            </a:extLst>
          </p:cNvPr>
          <p:cNvSpPr/>
          <p:nvPr/>
        </p:nvSpPr>
        <p:spPr>
          <a:xfrm>
            <a:off x="457200" y="228600"/>
            <a:ext cx="2486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Proposed Methodology: System Overview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06815" y="1189980"/>
            <a:ext cx="2286000" cy="640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06815" y="1175891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12280" y="1227816"/>
            <a:ext cx="1789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Oral Lesion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(Cancer / Non-Cancer)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06815" y="2496312"/>
            <a:ext cx="2286000" cy="640080"/>
          </a:xfrm>
          <a:prstGeom prst="rect">
            <a:avLst/>
          </a:prstGeom>
          <a:solidFill>
            <a:srgbClr val="8FC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06815" y="2496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42559" y="2496312"/>
            <a:ext cx="28588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BGR→RGB | CLAHE | Sharpening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Center-Crop | 224×224 | Normalization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06815" y="3802644"/>
            <a:ext cx="2286000" cy="640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06815" y="38026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BALANCING &amp; SPLIT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38295" y="3806330"/>
            <a:ext cx="196316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1,400 balanced | 80:20 split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Offline augmentation (×4)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06815" y="5108976"/>
            <a:ext cx="2286000" cy="640080"/>
          </a:xfrm>
          <a:prstGeom prst="rect">
            <a:avLst/>
          </a:prstGeom>
          <a:solidFill>
            <a:srgbClr val="DB5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06815" y="51089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TRANSFER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81043" y="5108976"/>
            <a:ext cx="22057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1: Head-only (LR=1e-3)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2: Fine-tune (LR=1e-5)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AFB88C15-0532-6BD3-BE42-38564F3DF27B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/home/claude/chitkara_logo.jpeg">
            <a:extLst>
              <a:ext uri="{FF2B5EF4-FFF2-40B4-BE49-F238E27FC236}">
                <a16:creationId xmlns:a16="http://schemas.microsoft.com/office/drawing/2014/main" id="{8E7B7BAD-814D-0B28-E311-879D84F8F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7DA8D9A3-6A88-955C-7EE0-DE5C513A88EF}"/>
              </a:ext>
            </a:extLst>
          </p:cNvPr>
          <p:cNvSpPr/>
          <p:nvPr/>
        </p:nvSpPr>
        <p:spPr>
          <a:xfrm>
            <a:off x="406815" y="196129"/>
            <a:ext cx="5673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Methodology: System Overview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2CFFBC-2DFD-6E4C-E30C-AD16BA82C414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1549815" y="1815971"/>
            <a:ext cx="0" cy="6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56607F-EE3E-F4BD-7E71-70205B19F019}"/>
              </a:ext>
            </a:extLst>
          </p:cNvPr>
          <p:cNvCxnSpPr>
            <a:cxnSpLocks/>
          </p:cNvCxnSpPr>
          <p:nvPr/>
        </p:nvCxnSpPr>
        <p:spPr>
          <a:xfrm>
            <a:off x="1549815" y="3122303"/>
            <a:ext cx="0" cy="6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E2A90D9-7A97-5EB3-ADDF-44C372FFCBB4}"/>
              </a:ext>
            </a:extLst>
          </p:cNvPr>
          <p:cNvCxnSpPr>
            <a:cxnSpLocks/>
          </p:cNvCxnSpPr>
          <p:nvPr/>
        </p:nvCxnSpPr>
        <p:spPr>
          <a:xfrm>
            <a:off x="1549815" y="4442724"/>
            <a:ext cx="0" cy="6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Dataset &amp; Preprocessing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6792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Dataset Sources (Kaggle)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02111"/>
              </p:ext>
            </p:extLst>
          </p:nvPr>
        </p:nvGraphicFramePr>
        <p:xfrm>
          <a:off x="457199" y="1464169"/>
          <a:ext cx="5598366" cy="1524000"/>
        </p:xfrm>
        <a:graphic>
          <a:graphicData uri="http://schemas.openxmlformats.org/drawingml/2006/table">
            <a:tbl>
              <a:tblPr/>
              <a:tblGrid>
                <a:gridCol w="1832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Partition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Cancer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Non-Cancer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Training (pre-aug)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Validation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External Test</a:t>
                      </a:r>
                      <a:endParaRPr lang="en-US" sz="14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Training (post-aug)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1,775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3,575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199" y="33147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Preprocessing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" y="3485783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BGR → RGB conversion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CLAHE on L-channel (clip=2.0, 8×8)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Gaussian Sharpening (σ=2.0)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Center-Crop + Resize (224×224)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Architecture-specific normalization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7199" y="530085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Augmentation (Albumentations — training only)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57199" y="5645087"/>
            <a:ext cx="8070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Horizontal/Vertical Flip | 90° Rotation | Brightness/Contrast ±0.25 | HSV Jitter | Gaussian Noise | Grid Distortion  •  4 augmented copies per image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C0CE791C-EA24-4298-A38B-2C87A706C8CD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hitkara_logo.jpeg">
            <a:extLst>
              <a:ext uri="{FF2B5EF4-FFF2-40B4-BE49-F238E27FC236}">
                <a16:creationId xmlns:a16="http://schemas.microsoft.com/office/drawing/2014/main" id="{5577209D-B0A0-2026-927B-83FBE30C8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8B0832AB-9C5E-2F75-2C2D-3653F3115DC4}"/>
              </a:ext>
            </a:extLst>
          </p:cNvPr>
          <p:cNvSpPr/>
          <p:nvPr/>
        </p:nvSpPr>
        <p:spPr>
          <a:xfrm>
            <a:off x="457199" y="228600"/>
            <a:ext cx="34056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Model Architectures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927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Three CNN Backbones (ImageNet pretrained)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33766"/>
              </p:ext>
            </p:extLst>
          </p:nvPr>
        </p:nvGraphicFramePr>
        <p:xfrm>
          <a:off x="457199" y="1504188"/>
          <a:ext cx="8144256" cy="1517904"/>
        </p:xfrm>
        <a:graphic>
          <a:graphicData uri="http://schemas.openxmlformats.org/drawingml/2006/table">
            <a:tbl>
              <a:tblPr/>
              <a:tblGrid>
                <a:gridCol w="199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6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Architecture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Parameters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Innovation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~5.3M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Compound scaling; squeeze-and-excitation blocks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DenseNet121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~7.3M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 connectivity — each layer receives all preceding feature maps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~24.2M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Residual connections: y = F(x) + x; solves vanishing gradient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199" y="3630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Shared Classification Head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7199" y="40416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 Avg Pooling → Batch Norm → Dense (256/128, ReLU) → Dropout (0.4–0.5) → Dense (128/64, ReLU) → Dropout (0.3) → Sigmoid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57199" y="45125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Training: Adam optimizer | Binary Cross-Entropy | Batch size: 32 | Google Colab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DA887332-721C-BCDA-8202-DD429DF421D5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hitkara_logo.jpeg">
            <a:extLst>
              <a:ext uri="{FF2B5EF4-FFF2-40B4-BE49-F238E27FC236}">
                <a16:creationId xmlns:a16="http://schemas.microsoft.com/office/drawing/2014/main" id="{05EA89FB-E1EA-6611-6D53-D433CC102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E4AE983E-DE53-BFC3-B7B2-A5DA12FA6065}"/>
              </a:ext>
            </a:extLst>
          </p:cNvPr>
          <p:cNvSpPr/>
          <p:nvPr/>
        </p:nvSpPr>
        <p:spPr>
          <a:xfrm>
            <a:off x="457199" y="228600"/>
            <a:ext cx="2789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Results: Validation Performance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Internal Validation Set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145804"/>
              </p:ext>
            </p:extLst>
          </p:nvPr>
        </p:nvGraphicFramePr>
        <p:xfrm>
          <a:off x="457200" y="1482634"/>
          <a:ext cx="8144256" cy="1280160"/>
        </p:xfrm>
        <a:graphic>
          <a:graphicData uri="http://schemas.openxmlformats.org/drawingml/2006/table">
            <a:tbl>
              <a:tblPr/>
              <a:tblGrid>
                <a:gridCol w="2262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False Neg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False Pos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US" sz="14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95.6%</a:t>
                      </a:r>
                      <a:endParaRPr lang="en-US" sz="14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0.9957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DenseNet121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94.4%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0.9809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95.6%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0.9792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130317220"/>
              </p:ext>
            </p:extLst>
          </p:nvPr>
        </p:nvGraphicFramePr>
        <p:xfrm>
          <a:off x="457200" y="3730886"/>
          <a:ext cx="45720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02424" y="4114800"/>
            <a:ext cx="3199032" cy="7315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06329" y="4125064"/>
            <a:ext cx="28938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Selection Criterion:
</a:t>
            </a:r>
            <a:r>
              <a:rPr lang="en-US" sz="1100" i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 = 0.6 × AUC + 0.4 × Accuracy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FA040301-4B50-31D4-584D-A1EEF9E825F0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/home/claude/chitkara_logo.jpeg">
            <a:extLst>
              <a:ext uri="{FF2B5EF4-FFF2-40B4-BE49-F238E27FC236}">
                <a16:creationId xmlns:a16="http://schemas.microsoft.com/office/drawing/2014/main" id="{D8594315-DD3D-4525-F758-587CB05E8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4C6DAA62-F05C-14C4-9542-30816ED55D2B}"/>
              </a:ext>
            </a:extLst>
          </p:cNvPr>
          <p:cNvSpPr/>
          <p:nvPr/>
        </p:nvSpPr>
        <p:spPr>
          <a:xfrm>
            <a:off x="457200" y="228600"/>
            <a:ext cx="441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Validation Performance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Results: External Test Set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6647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Independent Test Set (131 images: 87 Cancer / 44 Non-Cancer)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6614"/>
              </p:ext>
            </p:extLst>
          </p:nvPr>
        </p:nvGraphicFramePr>
        <p:xfrm>
          <a:off x="457199" y="1479360"/>
          <a:ext cx="8144257" cy="1478280"/>
        </p:xfrm>
        <a:graphic>
          <a:graphicData uri="http://schemas.openxmlformats.org/drawingml/2006/table">
            <a:tbl>
              <a:tblPr/>
              <a:tblGrid>
                <a:gridCol w="180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7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Cancer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Non-Cancer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Opt.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Threshold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4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0.9079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DenseNet121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199" y="358804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Validation → Test AUC Gap (Domain Shift)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10734"/>
              </p:ext>
            </p:extLst>
          </p:nvPr>
        </p:nvGraphicFramePr>
        <p:xfrm>
          <a:off x="457198" y="4017924"/>
          <a:ext cx="8144257" cy="1219200"/>
        </p:xfrm>
        <a:graphic>
          <a:graphicData uri="http://schemas.openxmlformats.org/drawingml/2006/table">
            <a:tbl>
              <a:tblPr/>
              <a:tblGrid>
                <a:gridCol w="250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 AUC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 AUC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Gap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DenseNet121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4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0.9792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0.9079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0.069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0">
            <a:extLst>
              <a:ext uri="{FF2B5EF4-FFF2-40B4-BE49-F238E27FC236}">
                <a16:creationId xmlns:a16="http://schemas.microsoft.com/office/drawing/2014/main" id="{05B6BA25-49DC-C6DB-60CE-97C078AEB114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chitkara_logo.jpeg">
            <a:extLst>
              <a:ext uri="{FF2B5EF4-FFF2-40B4-BE49-F238E27FC236}">
                <a16:creationId xmlns:a16="http://schemas.microsoft.com/office/drawing/2014/main" id="{F36D5C5B-7811-27F4-0B4B-F9EE34CE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E217C8AC-DEE0-9122-29B3-7A4388C258C0}"/>
              </a:ext>
            </a:extLst>
          </p:cNvPr>
          <p:cNvSpPr/>
          <p:nvPr/>
        </p:nvSpPr>
        <p:spPr>
          <a:xfrm>
            <a:off x="457200" y="228600"/>
            <a:ext cx="351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External Test Set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Results: Ensemble Methods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580198"/>
              </p:ext>
            </p:extLst>
          </p:nvPr>
        </p:nvGraphicFramePr>
        <p:xfrm>
          <a:off x="457200" y="1156144"/>
          <a:ext cx="4870580" cy="2133600"/>
        </p:xfrm>
        <a:graphic>
          <a:graphicData uri="http://schemas.openxmlformats.org/drawingml/2006/table">
            <a:tbl>
              <a:tblPr/>
              <a:tblGrid>
                <a:gridCol w="189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 AUC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DenseNet121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backbone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backbone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0.9050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backbone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Keras Meta-Head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Non-linear fusion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Weighted Average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fusion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0.9194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LR Meta-Learner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stacking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0.9194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581328704"/>
              </p:ext>
            </p:extLst>
          </p:nvPr>
        </p:nvGraphicFramePr>
        <p:xfrm>
          <a:off x="5878285" y="1021469"/>
          <a:ext cx="2873829" cy="2801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176710"/>
            <a:ext cx="8144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Insight:
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 linear fusion (Methods A &amp; B) outperforms all individual models and the non-linear neural fusion. 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Keras Meta-Head underperformed due to limited meta-training data (280 images, 113 parameters).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0ECF49F2-012F-5D47-B9C2-76E1E6F4B374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chitkara_logo.jpeg">
            <a:extLst>
              <a:ext uri="{FF2B5EF4-FFF2-40B4-BE49-F238E27FC236}">
                <a16:creationId xmlns:a16="http://schemas.microsoft.com/office/drawing/2014/main" id="{148B33A9-9EDC-C9A8-2F4D-2C25CACE6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45D1A8CB-65C2-3E4E-7909-4F916A11BDD8}"/>
              </a:ext>
            </a:extLst>
          </p:cNvPr>
          <p:cNvSpPr/>
          <p:nvPr/>
        </p:nvSpPr>
        <p:spPr>
          <a:xfrm>
            <a:off x="457200" y="228600"/>
            <a:ext cx="3761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Ensemble Methods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9331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83651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GradCAM Interpretability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21811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8141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Gradient-weighted Class Activation Mapping — DenseNet121 (all 131 test images)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987259"/>
              </p:ext>
            </p:extLst>
          </p:nvPr>
        </p:nvGraphicFramePr>
        <p:xfrm>
          <a:off x="457199" y="1492898"/>
          <a:ext cx="8144257" cy="2072640"/>
        </p:xfrm>
        <a:graphic>
          <a:graphicData uri="http://schemas.openxmlformats.org/drawingml/2006/table">
            <a:tbl>
              <a:tblPr/>
              <a:tblGrid>
                <a:gridCol w="1628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Outcome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GradCAM Observation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Clinical Implication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Heatmaps highlight irregular surface texture, discoloration zones, lesion boundary irregularities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learns clinically relevant morphology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Low-intensity, poorly localized activations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Subtle/early-stage lesions insufficiently represented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Activations on specular reflections, shadow artifacts, pigmented tissue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Visual artifacts mimicking cancerous morphology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199" y="4301412"/>
            <a:ext cx="814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GradCAM confirms the model makes decisions based on clinically significant features, not spurious correlations — a crucial requirement for clinical deployment.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70C9EF4F-8D15-B7B2-843E-BB694A132DB5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chitkara_logo.jpeg">
            <a:extLst>
              <a:ext uri="{FF2B5EF4-FFF2-40B4-BE49-F238E27FC236}">
                <a16:creationId xmlns:a16="http://schemas.microsoft.com/office/drawing/2014/main" id="{1D5015E0-DDC8-A826-99A9-6167363C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65F4EBEB-8400-7C43-ACAF-35143B8C5C32}"/>
              </a:ext>
            </a:extLst>
          </p:cNvPr>
          <p:cNvSpPr/>
          <p:nvPr/>
        </p:nvSpPr>
        <p:spPr>
          <a:xfrm>
            <a:off x="457200" y="228600"/>
            <a:ext cx="3700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GradCAM Interpretability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20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Summary of Findings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1238791"/>
            <a:ext cx="6263641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EfficientNetB0: Best validation AUC (0.9957) | Most parameter-efficient (~5.3M)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ResNet50: Best external test: Accuracy 90%, AUC 0.9079, Cancer F1: 0.93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Ensemble: Highest test AUC of 0.9194 — surpassing all individual backbones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GradCAM: Confirmed clinically grounded decision-making in DenseNet121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223113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284821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Limitations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" y="314935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training corpus (1,400 images)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shift in external test 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demographic/anatomical stratification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GradCAM evaluation is qualitative only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7200" y="455476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Future Scope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7200" y="4903947"/>
            <a:ext cx="8144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Larger, more ethnically diverse datasets to reduce domain shift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Quantitative GradCAM evaluation against clinician-annotated lesion masks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Post-hoc probability calibration to reduce threshold shift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Prospective clinical validation with oral health practitioners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3BB10A9-5E5E-0DD8-98DF-46126DE7C3E0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0" descr="/home/claude/chitkara_logo.jpeg">
            <a:extLst>
              <a:ext uri="{FF2B5EF4-FFF2-40B4-BE49-F238E27FC236}">
                <a16:creationId xmlns:a16="http://schemas.microsoft.com/office/drawing/2014/main" id="{A5603F98-9B39-489A-70E6-8E666F8F0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897861FF-BBD7-22BE-D188-53B8EE6EA8EC}"/>
              </a:ext>
            </a:extLst>
          </p:cNvPr>
          <p:cNvSpPr/>
          <p:nvPr/>
        </p:nvSpPr>
        <p:spPr>
          <a:xfrm>
            <a:off x="457200" y="228600"/>
            <a:ext cx="3761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73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References &amp; Acknowledgments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Key References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330545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WHO/IARC, Global Cancer Observatory, 2020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Sharma et al., Cancer Medicine, 7(8), 2018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Jubair et al., Oral Diseases, 28(5), 2022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Shamim et al., arXiv:1909.08609, 2019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 Hussain et al., IEEE Access, 8, 2020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 Shetty et al., Comput. Intell. Neurosci., 2021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 Tan &amp; Le, ICML 2019 (EfficientNet)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[8] Huang et al., CVPR 2017 (DenseNet)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[9] He et al., CVPR 2016 (ResNet)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[10] Selvaraju et al., ICCV 2017 (GradCAM)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[11] Buslaev et al., Information, 11(2), 2020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440498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Acknowledgments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4676503"/>
            <a:ext cx="8144256" cy="99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author gratefully acknowledges the contributors of the publicly available oral cancer datasets hosted on the Kaggle platform (Zaid et al. and Shivam et al.).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Supervised by Mr. Lalit Sharma, Department of Computer Science and Engineering, Chitkara University, Punjab.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44E88054-44BA-E76D-D5C5-6494C9E50765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chitkara_logo.jpeg">
            <a:extLst>
              <a:ext uri="{FF2B5EF4-FFF2-40B4-BE49-F238E27FC236}">
                <a16:creationId xmlns:a16="http://schemas.microsoft.com/office/drawing/2014/main" id="{38C084C5-E092-A04D-CACA-4FA3E69A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50A0A4CA-588E-0CE8-B4AA-F9FE029BC74A}"/>
              </a:ext>
            </a:extLst>
          </p:cNvPr>
          <p:cNvSpPr/>
          <p:nvPr/>
        </p:nvSpPr>
        <p:spPr>
          <a:xfrm>
            <a:off x="457200" y="228600"/>
            <a:ext cx="448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Acknowledgments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3172408" y="2880360"/>
            <a:ext cx="279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1A1A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Thank You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2C39B3B9-BAFC-09F4-BAB0-4E885C6D73BD}"/>
              </a:ext>
            </a:extLst>
          </p:cNvPr>
          <p:cNvSpPr/>
          <p:nvPr/>
        </p:nvSpPr>
        <p:spPr>
          <a:xfrm>
            <a:off x="0" y="0"/>
            <a:ext cx="9144000" cy="824400"/>
          </a:xfrm>
          <a:prstGeom prst="rect">
            <a:avLst/>
          </a:prstGeom>
          <a:solidFill>
            <a:srgbClr val="E52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chitkara_logo.jpeg">
            <a:extLst>
              <a:ext uri="{FF2B5EF4-FFF2-40B4-BE49-F238E27FC236}">
                <a16:creationId xmlns:a16="http://schemas.microsoft.com/office/drawing/2014/main" id="{23D6BEA3-B3AC-B58F-2746-99B993F13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16" y="182880"/>
            <a:ext cx="192024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1411</Words>
  <Application>Microsoft Office PowerPoint</Application>
  <PresentationFormat>On-screen Show (4:3)</PresentationFormat>
  <Paragraphs>336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Detection of Oral Cancer Using Deep Learning on Intraoral Images</dc:title>
  <dc:subject>PptxGenJS Presentation</dc:subject>
  <dc:creator>Riya Sharma</dc:creator>
  <cp:lastModifiedBy>Riya Sharma</cp:lastModifiedBy>
  <cp:revision>5</cp:revision>
  <dcterms:created xsi:type="dcterms:W3CDTF">2026-05-09T09:04:50Z</dcterms:created>
  <dcterms:modified xsi:type="dcterms:W3CDTF">2026-05-10T12:05:01Z</dcterms:modified>
</cp:coreProperties>
</file>