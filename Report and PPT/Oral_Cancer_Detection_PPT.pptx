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Detection of Oral Cancer Using Deep Learning on Intraoral Images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Riya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2210990736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Lalit Sharma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Oral cancer is a major global public health concern, including cancers of the lip, tongue, floor of the mouth, buccal mucosa, gingiva, and oropharynx.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reports over 377,000 new cases of oral cavity cancer globally each year, with five-year survival rate still less than 50% in many regions.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Survival is highly stage-dependent: greater than 80% if discovered at Stage I/II, but less than 30% at advanced stages.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cases still present at advanced stages due to lack of population-level screening infrastructure and restricted access to specialized examination.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 have shown clinically significant performance in dermoscopic lesion classification, diabetic retinopathy grading, and histopathological cancer classification.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investigates deep CNN architectures for automated binary classification of oral lesion images into cancerous and non-cancerous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Motivation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Conventional Diagnosis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and tactile clinical examination followed by biopsy and histopathological analysis is the gold standard, but introduces delays inherent in laboratory processing.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necessitates highly qualified oral pathologists and is subject to significant inter-examiner variability.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are especially noticeable in low- and middle-income nations where the incidence of oral cancer is disproportionately higher.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Screening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hierarchical feature representations to be learned directly from image data without manual feature engineering.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screening can democratise early detection by reducing dependency on specialists.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Contributions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repeatable preprocessing and augmentation pipeline with center-crop resizing, Gaussian sharpening, and CLAHE customised to oral lesion images.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methodical assessment using a standardised two-phase transfer learning protocol of three CNN architectures: EfficientNetB0, DenseNet121, and ResNet50.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empirical demonstration of how balanced class sampling and offline augmentation enhance classification robustness on small-scale medical imaging datasets.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of model performance using several evaluation metrics, including threshold-optimised recall analysis pertinent to clinical screening.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Gradient-weighted Class Activation Mapping (GradCAM) to make DenseNet121 predictions visually understandable across the whole test set.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three ensemble strategies — Weighted Average, Logistic Regression Meta-Learner, and Keras Meta-Head — built on top of the trained backbones.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research showed CNN-based classifiers trained on clinical photos could perform as well in diagnosis as seasoned medical professionals.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Jubair et al. proposed a lightweight MobileNet-based architecture for resource-limited devices, achieving 88.3% accuracy on binary oral lesion classification.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Shamim et al. reported AUC values greater than 0.90 using VGG-16 and ResNet-50 with transfer learning for oral squamous cell carcinoma detection.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Hussain et al. found DenseNet-based models consistently outperformed others in a comparative analysis of eight CNN architectures, attributed to dense feature reuse.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Shetty et al. demonstrated a 4.2% increase in classification accuracy when CLAHE was applied before CNN feature extraction on an oral cancer dataset.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Selvaraju et al. introduced GradCAM, which uses gradients of the classification score with respect to final convolutional feature maps to localise discriminative regions.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differs through explicit balanced random sampling, systematic offline augmentation, combined AUC-accuracy optimisation, and GradCAM analysis on the full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(Kaggle)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Dataset: Zaid et al.’s “Oral Cancer Dataset” (v2.0) — 1,000 cancer + 700 non-cancer images across two subsets.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Dataset: Shivam et al.’s “Oral Cancer Lips and Tongue Images” — 87 cancerous + 44 non-cancerous (131 images, held-out).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 &amp; Split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cancer images removed (seed = 42) to obtain a perfectly balanced corpus of 700 cancer + 700 non-cancer (1,400 total).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80:20 split. DenseNet121: 715 train / 179 val. ResNet50: 728 train / 183 val. Test set of 131 images was completely hidden during training.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augmentation expanded the training partition to 3,575 (DenseNet121) and 3,640 (ResNet50)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Pipeline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 Space Conversion: BGR → RGB to maintain consistency with the ImageNet pretraining convention and prevent channel inversion artefacts.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 Enhancement (CLAHE): applied to the L (luminance) channel in CIE L*a*b* space with clip limit 2.0 and tile grid 8×8 pixels.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Sharpening: unsharp masking with σ = 2.0 — I_sharp = clip(1.5·I − 0.5·G_σ(I), 0, 255) to enhance high-frequency edge features.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Centre-Crop Resizing: square crop based on min(H, W), then bilinear resize to 224 × 224 pixels to handle heterogeneous aspect ratios without distortion.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Architecture-Specific Normalisation: EfficientNetB0 scales channels to [−1, 1]; DenseNet121 uses ImageNet mean subtraction; ResNet50 uses mean subtraction with standard deviation normalisation.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Augmentation (Albumentations)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exclusively to the training partition; each image augmented to produce four additional variants saved to disk for full reproducibility.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Augmentation Pipeline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Flip (p = 0.5), Vertical Flip (p = 0.3), Random 90° Rotation (p = 0.5), Continuous Rotation ±25° (p = 0.5).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Brightness/Contrast ±0.25 (p = 0.5); Hue/Saturation/Value adjustment (p = 0.4); Gaussian Noise variance 5–20 (p = 0.3).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CLAHE (clip 2.0, p = 0.3); Grid Distortion (5 steps, limit 0.2, p = 0.2).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was NOT applied to validation or test partitions to prevent leakage and bias.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online augmentation (rotation ±10°, shift ±0.05, zoom ±0.05, horizontal flip) further diversified each batch.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(~5.3M params)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Compound coefficient scaling of depth, width, and resolution. Depthwise separable convolutions and squeeze-and-excitation blocks for strong feature extraction from limited data.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 (~7.3M params)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layer receives feature maps from all preceding layers within a dense block: x_l = H_l([x_0, x_1, ..., x_(l−1)]). Promotes explicit feature reuse and mitigates vanishing gradients.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 (~24.2M params)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learning with identity shortcuts: y = F(x, {W_i}) + x. Shortcut connections allow unimpeded gradient propagation and enable deeper networks via bottleneck blocks.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 &amp; Training Protocol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Standardised Classification Head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 → Batch Normalisation → Dense (256/128 units, ReLU) → Dropout (0.4–0.5) → Dense (128/64 units, ReLU) → Dropout (0.3) → Sigmoid output neuron.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Two-Phase Transfer Learning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(Head-Only): Backbone frozen; only classification head trained for up to 20 epochs at LR = 10⁻³.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 (Fine-Tuning): Top layers unfrozen (top 20 EffNet, top 30 DenseNet, top 40 ResNet) and trained end-to-end for up to 30 epochs at LR = 10⁻⁵.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 optimiser; binary cross-entropy loss; balanced class weights w_c = N / (2·N_c).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Early Stopping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metric guiding model selection: Score = 0.6 × AUC + 0.4 × Accuracy. Best validation checkpoint retained.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after 12 consecutive epochs without improvement of at least 0.001. Learning rate halved on validation loss plateau (patience = 5, minimum 10⁻⁷).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AUC-ROC. Two thresholds: default (0.50) and Youden-optimal (J = TPR − FPR).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2.x / Keras on Google Colab GPU. Input 224×224×3, batch size 32, 4 augmentation copies per image.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Performance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AUC 0.9957, accuracy 95.6% (325 / 340 correct), 7 false negatives, 8 false positives. Best Phase 1 checkpoint at epoch 4.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AUC 0.9809, accuracy 94.4% (169 / 179 correct), 3 cancer misclassifications, 7 non-cancer misclassifications. Best Phase 1 checkpoint at epoch 7.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AUC 0.9792, accuracy 95.6% (175 / 183 correct), 87 / 93 cancer + 88 / 90 non-cancer correct. Best Phase 2 checkpoint at epoch 2.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three architectures achieve strong discriminative capacity on the internal validation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Test Set Performance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Test: 131 images (87 cancer / 44 non-cancer)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 (optimal threshold 0.84): Accuracy 0.90, Cancer Recall 0.93, Non-Cancer Recall 0.84, AUC 0.9079 — best overall.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(optimal threshold 0.27): Accuracy 0.88, Cancer Recall 0.89, Non-Cancer Recall 0.86, AUC 0.8977.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 (optimal threshold 0.90): Accuracy 0.83, Cancer Recall 0.84, Non-Cancer Recall 0.82, AUC 0.8685.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Validation-to-Test AUC Gap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 has the smallest gap (0.069), then EfficientNetB0 (0.098), then DenseNet121 (0.112). The gap reflects domain shift from a different image acquisition protocol and class imbalance in the test 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Cross-Model Comparison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 had the best overall accuracy (90%) and AUC (0.9079), and the highest cancer F1 (0.93) and non-cancer F1 (0.85).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came in second with 88% accuracy and AUC 0.8977 — strongest result per parameter at only ~5.3M params (ideal for resource-constrained deployment).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 had the lowest accuracy (83%) and AUC (0.8685) on the external test, with a very low non-cancer precision (0.72).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of Decision Threshold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outputs conservative probabilities on out-of-distribution data; lowering threshold from 0.50 to 0.27 raised cancer recall 0.83 → 0.89 and accuracy 85% → 88%.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 needed a high threshold (0.90) to balance recall (0.84) and non-cancer recall (0.82); ResNet50 was already strong at default 0.50.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GradCAM Interpretability Analysis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GradCAM applied to all 131 test images using DenseNet121’s final convolutional layer; heatmaps overlaid via the JET colourmap with blend coefficient α = 0.45.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Positives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Heatmaps highlighted areas aligned with known oral lesion morphology — irregular surface texture, discoloration zones, and irregularities at the lesion boundary.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Lower-intensity, poorly localised activations, suggesting insufficient feature representation for subtle or early-stage lesions.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correlated with specular reflections, shadow artefacts, and pigmented tissue areas that may superficially mimic cancerous morphology.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 confirm the model learns clinically significant features rather than spurious artefacts.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backbone weights frozen before ensemble construction; only meta-level parameters were updated.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A — Weighted Average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base model’s validation AUC used as its raw weight, normalised so the three weights sum to 1.0. No additional training required; interpretable and naturally up-weights stronger models.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B — Logistic Regression Meta-Learner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model probabilities stacked into a feature matrix (N, 3) and used to train a Logistic Regression classifier (C = 1.0, max_iter = 1000) on validation predictions.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C — Keras Meta-Head (Neural Fusion)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Concatenated sigmoid outputs → Dense(16, ReLU) → BatchNorm → Dropout(0.3) → Dense(1, Sigmoid). Trained on validation set with the same combined early-stopping criterion.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 (individual backbone): 0.8685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(individual backbone): 0.9050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 (individual backbone): 0.9079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 Meta-Head (Method C): 0.8823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Average (Method A): 0.9194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Meta-Learner (Method B): 0.9194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Average and LR Meta-Learner both achieved the highest test AUC of 0.9194, surpassing all individual backbones.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 Meta-Head (113 trainable params on 280 meta-images) underperformed linear methods — limited capacity vs. validation set size.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fusion of complementary backbone predictions is highly effective on this dataset.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corpus (1,400 balanced images) is still relatively small for deep learning standards.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test set exhibits domain shift, making direct comparison between validation and test metrics more difficult.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test set is heavily skewed (87 cancer vs. 44 non-cancer), which makes non-cancer precision harder to optimise.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stratification implemented by lesion type, anatomical sub-site, or patient demographics.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GradCAM analysis is qualitative; a quantitative localisation evaluation against expert annotations would strengthen interpretability claims.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990600"/>
            <a:ext cx="8229600" cy="51816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 achieved the best external-test performance — accuracy 90%, AUC 0.9079, cancer F1 0.93 — correctly identifying 81 of 87 cancerous cases.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was the most parameter-efficient (5.3M), achieving 88% accuracy and AUC 0.8977 — well-suited for resource-constrained deployment.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Average and LR Meta-Learner ensembles achieved the highest test AUC (0.9194), demonstrating that simple linear fusion outperforms individual backbones.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GradCAM confirmed DenseNet121 activations are predominantly grounded in clinically relevant lesion regions.</a:t>
            </a:r>
          </a:p>
          <a:p>
            <a:pPr algn="just">
              <a:lnSpc>
                <a:spcPct val="100000"/>
              </a:lnSpc>
              <a:buNone/>
            </a:pPr>
            <a:endParaRPr lang="en-US" sz="1200" dirty="0">
              <a:latin typeface="Times New Roman"/>
            </a:endParaRPr>
          </a:p>
          <a:p>
            <a:pPr algn="just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Larger, more ethnically diverse datasets to reduce domain shift; quantitative GradCAM evaluation against clinician-annotated lesion masks.</a:t>
            </a:r>
          </a:p>
          <a:p>
            <a:pPr marL="457200" lvl="0" indent="-317500" algn="just">
              <a:lnSpc>
                <a:spcPct val="115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Post-hoc probability calibration to reduce threshold shift under domain change; prospective clinical validation with oral health practitioners.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34705</TotalTime>
  <Words>2375</Words>
  <Application>Microsoft Office PowerPoint</Application>
  <PresentationFormat>On-screen Show (4:3)</PresentationFormat>
  <Paragraphs>195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Riya Sharma</cp:lastModifiedBy>
  <cp:revision>2302</cp:revision>
  <dcterms:created xsi:type="dcterms:W3CDTF">2010-04-09T07:36:15Z</dcterms:created>
  <dcterms:modified xsi:type="dcterms:W3CDTF">2026-04-30T17:21:17Z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